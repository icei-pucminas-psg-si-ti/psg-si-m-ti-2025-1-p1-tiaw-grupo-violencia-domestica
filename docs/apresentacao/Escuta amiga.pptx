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Charlevoix Heavy" charset="1" panose="00000300000000000000"/>
      <p:regular r:id="rId12"/>
    </p:embeddedFont>
    <p:embeddedFont>
      <p:font typeface="Charlevoix" charset="1" panose="00000300000000000000"/>
      <p:regular r:id="rId13"/>
    </p:embeddedFont>
    <p:embeddedFont>
      <p:font typeface="Open Sans" charset="1" panose="020B0606030504020204"/>
      <p:regular r:id="rId14"/>
    </p:embeddedFont>
    <p:embeddedFont>
      <p:font typeface="Charlevoix Bold" charset="1" panose="00000300000000000000"/>
      <p:regular r:id="rId15"/>
    </p:embeddedFont>
    <p:embeddedFont>
      <p:font typeface="Open Sans Bold" charset="1" panose="020B0806030504020204"/>
      <p:regular r:id="rId16"/>
    </p:embeddedFont>
    <p:embeddedFont>
      <p:font typeface="Charlevoix Medium" charset="1" panose="000003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jpe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3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1A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3525575" y="878171"/>
            <a:ext cx="11186437" cy="11268389"/>
          </a:xfrm>
          <a:custGeom>
            <a:avLst/>
            <a:gdLst/>
            <a:ahLst/>
            <a:cxnLst/>
            <a:rect r="r" b="b" t="t" l="l"/>
            <a:pathLst>
              <a:path h="11268389" w="11186437">
                <a:moveTo>
                  <a:pt x="11186437" y="11268389"/>
                </a:moveTo>
                <a:lnTo>
                  <a:pt x="0" y="11268389"/>
                </a:lnTo>
                <a:lnTo>
                  <a:pt x="0" y="0"/>
                </a:lnTo>
                <a:lnTo>
                  <a:pt x="11186437" y="0"/>
                </a:lnTo>
                <a:lnTo>
                  <a:pt x="11186437" y="11268389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02888" y="4264260"/>
            <a:ext cx="5962512" cy="6022740"/>
          </a:xfrm>
          <a:custGeom>
            <a:avLst/>
            <a:gdLst/>
            <a:ahLst/>
            <a:cxnLst/>
            <a:rect r="r" b="b" t="t" l="l"/>
            <a:pathLst>
              <a:path h="6022740" w="5962512">
                <a:moveTo>
                  <a:pt x="0" y="0"/>
                </a:moveTo>
                <a:lnTo>
                  <a:pt x="5962512" y="0"/>
                </a:lnTo>
                <a:lnTo>
                  <a:pt x="5962512" y="6022740"/>
                </a:lnTo>
                <a:lnTo>
                  <a:pt x="0" y="60227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85300" y="-320413"/>
            <a:ext cx="3978437" cy="3978437"/>
          </a:xfrm>
          <a:custGeom>
            <a:avLst/>
            <a:gdLst/>
            <a:ahLst/>
            <a:cxnLst/>
            <a:rect r="r" b="b" t="t" l="l"/>
            <a:pathLst>
              <a:path h="3978437" w="3978437">
                <a:moveTo>
                  <a:pt x="0" y="0"/>
                </a:moveTo>
                <a:lnTo>
                  <a:pt x="3978437" y="0"/>
                </a:lnTo>
                <a:lnTo>
                  <a:pt x="3978437" y="3978436"/>
                </a:lnTo>
                <a:lnTo>
                  <a:pt x="0" y="39784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67643" y="1171575"/>
            <a:ext cx="14706875" cy="291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6"/>
              </a:lnSpc>
            </a:pPr>
            <a:r>
              <a:rPr lang="en-US" b="true" sz="10768" spc="-699">
                <a:solidFill>
                  <a:srgbClr val="FFFFFF"/>
                </a:solidFill>
                <a:latin typeface="Charlevoix Heavy"/>
                <a:ea typeface="Charlevoix Heavy"/>
                <a:cs typeface="Charlevoix Heavy"/>
                <a:sym typeface="Charlevoix Heavy"/>
              </a:rPr>
              <a:t>ESCUTA </a:t>
            </a:r>
          </a:p>
          <a:p>
            <a:pPr algn="ctr">
              <a:lnSpc>
                <a:spcPts val="11306"/>
              </a:lnSpc>
            </a:pPr>
            <a:r>
              <a:rPr lang="en-US" b="true" sz="10768" spc="-699">
                <a:solidFill>
                  <a:srgbClr val="FFFFFF"/>
                </a:solidFill>
                <a:latin typeface="Charlevoix Heavy"/>
                <a:ea typeface="Charlevoix Heavy"/>
                <a:cs typeface="Charlevoix Heavy"/>
                <a:sym typeface="Charlevoix Heavy"/>
              </a:rPr>
              <a:t>AMIGA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42012" y="5677323"/>
            <a:ext cx="11244952" cy="4383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0"/>
              </a:lnSpc>
            </a:pPr>
            <a:r>
              <a:rPr lang="en-US" sz="2860" spc="1290">
                <a:solidFill>
                  <a:srgbClr val="FFFFFF"/>
                </a:solidFill>
                <a:latin typeface="Charlevoix"/>
                <a:ea typeface="Charlevoix"/>
                <a:cs typeface="Charlevoix"/>
                <a:sym typeface="Charlevoix"/>
              </a:rPr>
              <a:t>MEMBROS DA EQUIPE:</a:t>
            </a:r>
          </a:p>
          <a:p>
            <a:pPr algn="ctr">
              <a:lnSpc>
                <a:spcPts val="3490"/>
              </a:lnSpc>
            </a:pPr>
          </a:p>
          <a:p>
            <a:pPr algn="ctr">
              <a:lnSpc>
                <a:spcPts val="3490"/>
              </a:lnSpc>
            </a:pPr>
            <a:r>
              <a:rPr lang="en-US" sz="2860" spc="1290">
                <a:solidFill>
                  <a:srgbClr val="FFFFFF"/>
                </a:solidFill>
                <a:latin typeface="Charlevoix"/>
                <a:ea typeface="Charlevoix"/>
                <a:cs typeface="Charlevoix"/>
                <a:sym typeface="Charlevoix"/>
              </a:rPr>
              <a:t>BRUNO FERNANDES</a:t>
            </a:r>
          </a:p>
          <a:p>
            <a:pPr algn="ctr">
              <a:lnSpc>
                <a:spcPts val="3490"/>
              </a:lnSpc>
            </a:pPr>
            <a:r>
              <a:rPr lang="en-US" sz="2860" spc="1290">
                <a:solidFill>
                  <a:srgbClr val="FFFFFF"/>
                </a:solidFill>
                <a:latin typeface="Charlevoix"/>
                <a:ea typeface="Charlevoix"/>
                <a:cs typeface="Charlevoix"/>
                <a:sym typeface="Charlevoix"/>
              </a:rPr>
              <a:t>CAROLINA DESCHAMPS</a:t>
            </a:r>
          </a:p>
          <a:p>
            <a:pPr algn="ctr">
              <a:lnSpc>
                <a:spcPts val="3490"/>
              </a:lnSpc>
            </a:pPr>
            <a:r>
              <a:rPr lang="en-US" sz="2860" spc="1290">
                <a:solidFill>
                  <a:srgbClr val="FFFFFF"/>
                </a:solidFill>
                <a:latin typeface="Charlevoix"/>
                <a:ea typeface="Charlevoix"/>
                <a:cs typeface="Charlevoix"/>
                <a:sym typeface="Charlevoix"/>
              </a:rPr>
              <a:t>CESAR JÚNIOR</a:t>
            </a:r>
          </a:p>
          <a:p>
            <a:pPr algn="ctr">
              <a:lnSpc>
                <a:spcPts val="3490"/>
              </a:lnSpc>
            </a:pPr>
            <a:r>
              <a:rPr lang="en-US" sz="2860" spc="1290">
                <a:solidFill>
                  <a:srgbClr val="FFFFFF"/>
                </a:solidFill>
                <a:latin typeface="Charlevoix"/>
                <a:ea typeface="Charlevoix"/>
                <a:cs typeface="Charlevoix"/>
                <a:sym typeface="Charlevoix"/>
              </a:rPr>
              <a:t>ISABELLY LAYSSA</a:t>
            </a:r>
          </a:p>
          <a:p>
            <a:pPr algn="ctr">
              <a:lnSpc>
                <a:spcPts val="3490"/>
              </a:lnSpc>
            </a:pPr>
            <a:r>
              <a:rPr lang="en-US" sz="2860" spc="1290">
                <a:solidFill>
                  <a:srgbClr val="FFFFFF"/>
                </a:solidFill>
                <a:latin typeface="Charlevoix"/>
                <a:ea typeface="Charlevoix"/>
                <a:cs typeface="Charlevoix"/>
                <a:sym typeface="Charlevoix"/>
              </a:rPr>
              <a:t>JÚLIA LUÍZA</a:t>
            </a:r>
          </a:p>
          <a:p>
            <a:pPr algn="ctr">
              <a:lnSpc>
                <a:spcPts val="3490"/>
              </a:lnSpc>
            </a:pPr>
            <a:r>
              <a:rPr lang="en-US" sz="2860" spc="1290">
                <a:solidFill>
                  <a:srgbClr val="FFFFFF"/>
                </a:solidFill>
                <a:latin typeface="Charlevoix"/>
                <a:ea typeface="Charlevoix"/>
                <a:cs typeface="Charlevoix"/>
                <a:sym typeface="Charlevoix"/>
              </a:rPr>
              <a:t>JULIA MARIA </a:t>
            </a:r>
          </a:p>
          <a:p>
            <a:pPr algn="ctr">
              <a:lnSpc>
                <a:spcPts val="3490"/>
              </a:lnSpc>
            </a:pPr>
            <a:r>
              <a:rPr lang="en-US" sz="2860" spc="1290">
                <a:solidFill>
                  <a:srgbClr val="FFFFFF"/>
                </a:solidFill>
                <a:latin typeface="Charlevoix"/>
                <a:ea typeface="Charlevoix"/>
                <a:cs typeface="Charlevoix"/>
                <a:sym typeface="Charlevoix"/>
              </a:rPr>
              <a:t>KAUÃ FELIPE</a:t>
            </a:r>
          </a:p>
          <a:p>
            <a:pPr algn="ctr">
              <a:lnSpc>
                <a:spcPts val="349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6313885" y="0"/>
            <a:ext cx="11170764" cy="11252601"/>
          </a:xfrm>
          <a:custGeom>
            <a:avLst/>
            <a:gdLst/>
            <a:ahLst/>
            <a:cxnLst/>
            <a:rect r="r" b="b" t="t" l="l"/>
            <a:pathLst>
              <a:path h="11252601" w="11170764">
                <a:moveTo>
                  <a:pt x="0" y="11252601"/>
                </a:moveTo>
                <a:lnTo>
                  <a:pt x="11170764" y="11252601"/>
                </a:lnTo>
                <a:lnTo>
                  <a:pt x="11170764" y="0"/>
                </a:lnTo>
                <a:lnTo>
                  <a:pt x="0" y="0"/>
                </a:lnTo>
                <a:lnTo>
                  <a:pt x="0" y="11252601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5033101" y="-518624"/>
            <a:ext cx="4452397" cy="10805624"/>
          </a:xfrm>
          <a:custGeom>
            <a:avLst/>
            <a:gdLst/>
            <a:ahLst/>
            <a:cxnLst/>
            <a:rect r="r" b="b" t="t" l="l"/>
            <a:pathLst>
              <a:path h="10805624" w="4452397">
                <a:moveTo>
                  <a:pt x="0" y="0"/>
                </a:moveTo>
                <a:lnTo>
                  <a:pt x="4452398" y="0"/>
                </a:lnTo>
                <a:lnTo>
                  <a:pt x="4452398" y="10805624"/>
                </a:lnTo>
                <a:lnTo>
                  <a:pt x="0" y="108056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4685" t="-2448" r="-166792" b="-2276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97912" y="2037926"/>
            <a:ext cx="1445832" cy="144583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B92D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97912" y="3697668"/>
            <a:ext cx="1445832" cy="144583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D72E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97912" y="5353050"/>
            <a:ext cx="1445832" cy="144583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74E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97912" y="7008432"/>
            <a:ext cx="1445832" cy="144583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D45E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97912" y="8663814"/>
            <a:ext cx="1445832" cy="1445832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3DE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659390" y="3837613"/>
            <a:ext cx="1178453" cy="1172561"/>
          </a:xfrm>
          <a:custGeom>
            <a:avLst/>
            <a:gdLst/>
            <a:ahLst/>
            <a:cxnLst/>
            <a:rect r="r" b="b" t="t" l="l"/>
            <a:pathLst>
              <a:path h="1172561" w="1178453">
                <a:moveTo>
                  <a:pt x="0" y="0"/>
                </a:moveTo>
                <a:lnTo>
                  <a:pt x="1178454" y="0"/>
                </a:lnTo>
                <a:lnTo>
                  <a:pt x="1178454" y="1172561"/>
                </a:lnTo>
                <a:lnTo>
                  <a:pt x="0" y="11725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96448" y="5448300"/>
            <a:ext cx="1248759" cy="1248759"/>
          </a:xfrm>
          <a:custGeom>
            <a:avLst/>
            <a:gdLst/>
            <a:ahLst/>
            <a:cxnLst/>
            <a:rect r="r" b="b" t="t" l="l"/>
            <a:pathLst>
              <a:path h="1248759" w="1248759">
                <a:moveTo>
                  <a:pt x="0" y="0"/>
                </a:moveTo>
                <a:lnTo>
                  <a:pt x="1248759" y="0"/>
                </a:lnTo>
                <a:lnTo>
                  <a:pt x="1248759" y="1248759"/>
                </a:lnTo>
                <a:lnTo>
                  <a:pt x="0" y="12487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49095" y="7075107"/>
            <a:ext cx="799045" cy="1188170"/>
          </a:xfrm>
          <a:custGeom>
            <a:avLst/>
            <a:gdLst/>
            <a:ahLst/>
            <a:cxnLst/>
            <a:rect r="r" b="b" t="t" l="l"/>
            <a:pathLst>
              <a:path h="1188170" w="799045">
                <a:moveTo>
                  <a:pt x="0" y="0"/>
                </a:moveTo>
                <a:lnTo>
                  <a:pt x="799044" y="0"/>
                </a:lnTo>
                <a:lnTo>
                  <a:pt x="799044" y="1188170"/>
                </a:lnTo>
                <a:lnTo>
                  <a:pt x="0" y="11881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32096" y="8844621"/>
            <a:ext cx="1051691" cy="1084218"/>
          </a:xfrm>
          <a:custGeom>
            <a:avLst/>
            <a:gdLst/>
            <a:ahLst/>
            <a:cxnLst/>
            <a:rect r="r" b="b" t="t" l="l"/>
            <a:pathLst>
              <a:path h="1084218" w="1051691">
                <a:moveTo>
                  <a:pt x="0" y="0"/>
                </a:moveTo>
                <a:lnTo>
                  <a:pt x="1051691" y="0"/>
                </a:lnTo>
                <a:lnTo>
                  <a:pt x="1051691" y="1084218"/>
                </a:lnTo>
                <a:lnTo>
                  <a:pt x="0" y="108421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77456" y="2137718"/>
            <a:ext cx="1086743" cy="1121800"/>
          </a:xfrm>
          <a:custGeom>
            <a:avLst/>
            <a:gdLst/>
            <a:ahLst/>
            <a:cxnLst/>
            <a:rect r="r" b="b" t="t" l="l"/>
            <a:pathLst>
              <a:path h="1121800" w="1086743">
                <a:moveTo>
                  <a:pt x="0" y="0"/>
                </a:moveTo>
                <a:lnTo>
                  <a:pt x="1086744" y="0"/>
                </a:lnTo>
                <a:lnTo>
                  <a:pt x="1086744" y="1121800"/>
                </a:lnTo>
                <a:lnTo>
                  <a:pt x="0" y="1121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783787" y="820949"/>
            <a:ext cx="12991953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0"/>
              </a:lnSpc>
            </a:pPr>
            <a:r>
              <a:rPr lang="en-US" b="true" sz="6500" spc="-422">
                <a:solidFill>
                  <a:srgbClr val="B8445D"/>
                </a:solidFill>
                <a:latin typeface="Charlevoix Heavy"/>
                <a:ea typeface="Charlevoix Heavy"/>
                <a:cs typeface="Charlevoix Heavy"/>
                <a:sym typeface="Charlevoix Heavy"/>
              </a:rPr>
              <a:t>CONTEXTO DO PROBLEMA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43744" y="2175818"/>
            <a:ext cx="12621942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B8445D"/>
                </a:solidFill>
                <a:latin typeface="Open Sans"/>
                <a:ea typeface="Open Sans"/>
                <a:cs typeface="Open Sans"/>
                <a:sym typeface="Open Sans"/>
              </a:rPr>
              <a:t>Problema:</a:t>
            </a:r>
            <a:r>
              <a:rPr lang="en-US" sz="3200">
                <a:solidFill>
                  <a:srgbClr val="391A59"/>
                </a:solidFill>
                <a:latin typeface="Open Sans"/>
                <a:ea typeface="Open Sans"/>
                <a:cs typeface="Open Sans"/>
                <a:sym typeface="Open Sans"/>
              </a:rPr>
              <a:t> A violência doméstica é recorrente e muitas vítimas não denunciam por medo ou falta de acesso a canais seguros.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992926" y="3900456"/>
            <a:ext cx="12572760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200">
                <a:solidFill>
                  <a:srgbClr val="B8445D"/>
                </a:solidFill>
                <a:latin typeface="Open Sans"/>
                <a:ea typeface="Open Sans"/>
                <a:cs typeface="Open Sans"/>
                <a:sym typeface="Open Sans"/>
              </a:rPr>
              <a:t>Objetivo:</a:t>
            </a: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200">
                <a:solidFill>
                  <a:srgbClr val="391A59"/>
                </a:solidFill>
                <a:latin typeface="Open Sans"/>
                <a:ea typeface="Open Sans"/>
                <a:cs typeface="Open Sans"/>
                <a:sym typeface="Open Sans"/>
              </a:rPr>
              <a:t>Criar uma plataforma acessível que facilite denúncias e ofereça apoio.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94562" y="7152863"/>
            <a:ext cx="12421917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B844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200">
                <a:solidFill>
                  <a:srgbClr val="B8445D"/>
                </a:solidFill>
                <a:latin typeface="Open Sans"/>
                <a:ea typeface="Open Sans"/>
                <a:cs typeface="Open Sans"/>
                <a:sym typeface="Open Sans"/>
              </a:rPr>
              <a:t>Justificativa: </a:t>
            </a:r>
            <a:r>
              <a:rPr lang="en-US" sz="3200">
                <a:solidFill>
                  <a:srgbClr val="391A59"/>
                </a:solidFill>
                <a:latin typeface="Open Sans"/>
                <a:ea typeface="Open Sans"/>
                <a:cs typeface="Open Sans"/>
                <a:sym typeface="Open Sans"/>
              </a:rPr>
              <a:t>Ampliar o acolhimento e reduzir a subnotificação, promovendo a segurança das vítimas.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783787" y="9009826"/>
            <a:ext cx="12581874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B8445D"/>
                </a:solidFill>
                <a:latin typeface="Open Sans"/>
                <a:ea typeface="Open Sans"/>
                <a:cs typeface="Open Sans"/>
                <a:sym typeface="Open Sans"/>
              </a:rPr>
              <a:t>Design Thinking: </a:t>
            </a:r>
            <a:r>
              <a:rPr lang="en-US" sz="3200">
                <a:solidFill>
                  <a:srgbClr val="391A59"/>
                </a:solidFill>
                <a:latin typeface="Open Sans"/>
                <a:ea typeface="Open Sans"/>
                <a:cs typeface="Open Sans"/>
                <a:sym typeface="Open Sans"/>
              </a:rPr>
              <a:t>Entrevistas, mapa de empatia e jornada do usuário orientaram o desenvolvimento do site.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783787" y="5569151"/>
            <a:ext cx="12781899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B8445D"/>
                </a:solidFill>
                <a:latin typeface="Open Sans"/>
                <a:ea typeface="Open Sans"/>
                <a:cs typeface="Open Sans"/>
                <a:sym typeface="Open Sans"/>
              </a:rPr>
              <a:t>Público-alvo:</a:t>
            </a: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200">
                <a:solidFill>
                  <a:srgbClr val="391A59"/>
                </a:solidFill>
                <a:latin typeface="Open Sans"/>
                <a:ea typeface="Open Sans"/>
                <a:cs typeface="Open Sans"/>
                <a:sym typeface="Open Sans"/>
              </a:rPr>
              <a:t>Vítimas de violência doméstica, especialmente mulheres.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4375" y="1509528"/>
            <a:ext cx="14015010" cy="3795871"/>
            <a:chOff x="0" y="0"/>
            <a:chExt cx="3691196" cy="9997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91196" cy="999735"/>
            </a:xfrm>
            <a:custGeom>
              <a:avLst/>
              <a:gdLst/>
              <a:ahLst/>
              <a:cxnLst/>
              <a:rect r="r" b="b" t="t" l="l"/>
              <a:pathLst>
                <a:path h="999735" w="3691196">
                  <a:moveTo>
                    <a:pt x="0" y="0"/>
                  </a:moveTo>
                  <a:lnTo>
                    <a:pt x="3691196" y="0"/>
                  </a:lnTo>
                  <a:lnTo>
                    <a:pt x="3691196" y="999735"/>
                  </a:lnTo>
                  <a:lnTo>
                    <a:pt x="0" y="999735"/>
                  </a:lnTo>
                  <a:close/>
                </a:path>
              </a:pathLst>
            </a:custGeom>
            <a:solidFill>
              <a:srgbClr val="B743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3691196" cy="10092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4038254" y="1355921"/>
            <a:ext cx="5603387" cy="2896105"/>
          </a:xfrm>
          <a:custGeom>
            <a:avLst/>
            <a:gdLst/>
            <a:ahLst/>
            <a:cxnLst/>
            <a:rect r="r" b="b" t="t" l="l"/>
            <a:pathLst>
              <a:path h="2896105" w="5603387">
                <a:moveTo>
                  <a:pt x="0" y="0"/>
                </a:moveTo>
                <a:lnTo>
                  <a:pt x="5603387" y="0"/>
                </a:lnTo>
                <a:lnTo>
                  <a:pt x="5603387" y="2896106"/>
                </a:lnTo>
                <a:lnTo>
                  <a:pt x="0" y="28961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5506" t="-9148" r="-165848" b="-29220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278210" y="2756897"/>
            <a:ext cx="11518446" cy="6963571"/>
          </a:xfrm>
          <a:custGeom>
            <a:avLst/>
            <a:gdLst/>
            <a:ahLst/>
            <a:cxnLst/>
            <a:rect r="r" b="b" t="t" l="l"/>
            <a:pathLst>
              <a:path h="6963571" w="11518446">
                <a:moveTo>
                  <a:pt x="0" y="0"/>
                </a:moveTo>
                <a:lnTo>
                  <a:pt x="11518447" y="0"/>
                </a:lnTo>
                <a:lnTo>
                  <a:pt x="11518447" y="6963571"/>
                </a:lnTo>
                <a:lnTo>
                  <a:pt x="0" y="69635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510034">
            <a:off x="12864247" y="-104136"/>
            <a:ext cx="5310899" cy="5349807"/>
          </a:xfrm>
          <a:custGeom>
            <a:avLst/>
            <a:gdLst/>
            <a:ahLst/>
            <a:cxnLst/>
            <a:rect r="r" b="b" t="t" l="l"/>
            <a:pathLst>
              <a:path h="5349807" w="5310899">
                <a:moveTo>
                  <a:pt x="0" y="0"/>
                </a:moveTo>
                <a:lnTo>
                  <a:pt x="5310899" y="0"/>
                </a:lnTo>
                <a:lnTo>
                  <a:pt x="5310899" y="5349806"/>
                </a:lnTo>
                <a:lnTo>
                  <a:pt x="0" y="53498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9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900127" y="5605668"/>
            <a:ext cx="3359173" cy="4114800"/>
          </a:xfrm>
          <a:custGeom>
            <a:avLst/>
            <a:gdLst/>
            <a:ahLst/>
            <a:cxnLst/>
            <a:rect r="r" b="b" t="t" l="l"/>
            <a:pathLst>
              <a:path h="4114800" w="3359173">
                <a:moveTo>
                  <a:pt x="0" y="0"/>
                </a:moveTo>
                <a:lnTo>
                  <a:pt x="3359173" y="0"/>
                </a:lnTo>
                <a:lnTo>
                  <a:pt x="33591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7110684"/>
            <a:ext cx="12021099" cy="3551743"/>
            <a:chOff x="0" y="0"/>
            <a:chExt cx="3166051" cy="9354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66051" cy="935438"/>
            </a:xfrm>
            <a:custGeom>
              <a:avLst/>
              <a:gdLst/>
              <a:ahLst/>
              <a:cxnLst/>
              <a:rect r="r" b="b" t="t" l="l"/>
              <a:pathLst>
                <a:path h="935438" w="3166051">
                  <a:moveTo>
                    <a:pt x="32845" y="0"/>
                  </a:moveTo>
                  <a:lnTo>
                    <a:pt x="3133205" y="0"/>
                  </a:lnTo>
                  <a:cubicBezTo>
                    <a:pt x="3141917" y="0"/>
                    <a:pt x="3150271" y="3460"/>
                    <a:pt x="3156431" y="9620"/>
                  </a:cubicBezTo>
                  <a:cubicBezTo>
                    <a:pt x="3162590" y="15780"/>
                    <a:pt x="3166051" y="24134"/>
                    <a:pt x="3166051" y="32845"/>
                  </a:cubicBezTo>
                  <a:lnTo>
                    <a:pt x="3166051" y="902593"/>
                  </a:lnTo>
                  <a:cubicBezTo>
                    <a:pt x="3166051" y="911304"/>
                    <a:pt x="3162590" y="919658"/>
                    <a:pt x="3156431" y="925818"/>
                  </a:cubicBezTo>
                  <a:cubicBezTo>
                    <a:pt x="3150271" y="931978"/>
                    <a:pt x="3141917" y="935438"/>
                    <a:pt x="3133205" y="935438"/>
                  </a:cubicBezTo>
                  <a:lnTo>
                    <a:pt x="32845" y="935438"/>
                  </a:lnTo>
                  <a:cubicBezTo>
                    <a:pt x="24134" y="935438"/>
                    <a:pt x="15780" y="931978"/>
                    <a:pt x="9620" y="925818"/>
                  </a:cubicBezTo>
                  <a:cubicBezTo>
                    <a:pt x="3460" y="919658"/>
                    <a:pt x="0" y="911304"/>
                    <a:pt x="0" y="902593"/>
                  </a:cubicBezTo>
                  <a:lnTo>
                    <a:pt x="0" y="32845"/>
                  </a:lnTo>
                  <a:cubicBezTo>
                    <a:pt x="0" y="24134"/>
                    <a:pt x="3460" y="15780"/>
                    <a:pt x="9620" y="9620"/>
                  </a:cubicBezTo>
                  <a:cubicBezTo>
                    <a:pt x="15780" y="3460"/>
                    <a:pt x="24134" y="0"/>
                    <a:pt x="32845" y="0"/>
                  </a:cubicBezTo>
                  <a:close/>
                </a:path>
              </a:pathLst>
            </a:custGeom>
            <a:solidFill>
              <a:srgbClr val="B6445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166051" cy="973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927173" y="244806"/>
            <a:ext cx="9834009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0"/>
              </a:lnSpc>
            </a:pPr>
            <a:r>
              <a:rPr lang="en-US" b="true" sz="6500" spc="-422">
                <a:solidFill>
                  <a:srgbClr val="391A59"/>
                </a:solidFill>
                <a:latin typeface="Charlevoix Heavy"/>
                <a:ea typeface="Charlevoix Heavy"/>
                <a:cs typeface="Charlevoix Heavy"/>
                <a:sym typeface="Charlevoix Heavy"/>
              </a:rPr>
              <a:t>PROJETO DE SOLUÇÃO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13857" y="1954180"/>
            <a:ext cx="12416046" cy="2839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553"/>
              </a:lnSpc>
              <a:spcBef>
                <a:spcPct val="0"/>
              </a:spcBef>
            </a:pPr>
            <a:r>
              <a:rPr lang="en-US" sz="3252">
                <a:solidFill>
                  <a:srgbClr val="CDCFDB"/>
                </a:solidFill>
                <a:latin typeface="Open Sans"/>
                <a:ea typeface="Open Sans"/>
                <a:cs typeface="Open Sans"/>
                <a:sym typeface="Open Sans"/>
              </a:rPr>
              <a:t>Desenvolvimento de um site seguro, anônimo e acessível para que vítimas de violência doméstica possam realizar denúncias de forma rápida e protegida. A plataforma também oferece orientações, contatos de apoio (ONGs, advogados, psicólogos) e recursos educativos para prevenção e conscientização.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85120" y="6000724"/>
            <a:ext cx="11308259" cy="4585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391A59"/>
                </a:solidFill>
                <a:latin typeface="Charlevoix Bold"/>
                <a:ea typeface="Charlevoix Bold"/>
                <a:cs typeface="Charlevoix Bold"/>
                <a:sym typeface="Charlevoix Bold"/>
              </a:rPr>
              <a:t>Como organizamos? </a:t>
            </a:r>
          </a:p>
          <a:p>
            <a:pPr algn="ctr">
              <a:lnSpc>
                <a:spcPts val="4179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Metodologia ágil- Kanban 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Divisão por sprints: Sprint1, Sprint2 e Sprint 3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Ferramentas de comunicação ( WhatsApp, Google Meet)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Ferramenta de versionamento (GitHub)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Ferramentas de prototipagem ou planejamento (Figma)</a:t>
            </a:r>
          </a:p>
          <a:p>
            <a:pPr algn="l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669006" y="-975824"/>
            <a:ext cx="4452397" cy="10805624"/>
          </a:xfrm>
          <a:custGeom>
            <a:avLst/>
            <a:gdLst/>
            <a:ahLst/>
            <a:cxnLst/>
            <a:rect r="r" b="b" t="t" l="l"/>
            <a:pathLst>
              <a:path h="10805624" w="4452397">
                <a:moveTo>
                  <a:pt x="0" y="0"/>
                </a:moveTo>
                <a:lnTo>
                  <a:pt x="4452397" y="0"/>
                </a:lnTo>
                <a:lnTo>
                  <a:pt x="4452397" y="10805624"/>
                </a:lnTo>
                <a:lnTo>
                  <a:pt x="0" y="108056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4685" t="-2448" r="-166792" b="-227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54073" y="517843"/>
            <a:ext cx="6966923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0"/>
              </a:lnSpc>
            </a:pPr>
            <a:r>
              <a:rPr lang="en-US" b="true" sz="6500" spc="-422">
                <a:solidFill>
                  <a:srgbClr val="B8445D"/>
                </a:solidFill>
                <a:latin typeface="Charlevoix Heavy"/>
                <a:ea typeface="Charlevoix Heavy"/>
                <a:cs typeface="Charlevoix Heavy"/>
                <a:sym typeface="Charlevoix Heavy"/>
              </a:rPr>
              <a:t>METODOLOGIA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700184" y="1950252"/>
            <a:ext cx="3307777" cy="629191"/>
            <a:chOff x="0" y="0"/>
            <a:chExt cx="1172509" cy="2230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2509" cy="223030"/>
            </a:xfrm>
            <a:custGeom>
              <a:avLst/>
              <a:gdLst/>
              <a:ahLst/>
              <a:cxnLst/>
              <a:rect r="r" b="b" t="t" l="l"/>
              <a:pathLst>
                <a:path h="223030" w="1172509">
                  <a:moveTo>
                    <a:pt x="0" y="0"/>
                  </a:moveTo>
                  <a:lnTo>
                    <a:pt x="1172509" y="0"/>
                  </a:lnTo>
                  <a:lnTo>
                    <a:pt x="1172509" y="223030"/>
                  </a:lnTo>
                  <a:lnTo>
                    <a:pt x="0" y="223030"/>
                  </a:lnTo>
                  <a:close/>
                </a:path>
              </a:pathLst>
            </a:custGeom>
            <a:solidFill>
              <a:srgbClr val="163F7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172509" cy="280179"/>
            </a:xfrm>
            <a:prstGeom prst="rect">
              <a:avLst/>
            </a:prstGeom>
          </p:spPr>
          <p:txBody>
            <a:bodyPr anchor="ctr" rtlCol="false" tIns="37745" lIns="37745" bIns="37745" rIns="37745"/>
            <a:lstStyle/>
            <a:p>
              <a:pPr algn="ctr">
                <a:lnSpc>
                  <a:spcPts val="448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true" rot="9522994">
            <a:off x="-3208563" y="442293"/>
            <a:ext cx="10277974" cy="10353271"/>
          </a:xfrm>
          <a:custGeom>
            <a:avLst/>
            <a:gdLst/>
            <a:ahLst/>
            <a:cxnLst/>
            <a:rect r="r" b="b" t="t" l="l"/>
            <a:pathLst>
              <a:path h="10353271" w="10277974">
                <a:moveTo>
                  <a:pt x="0" y="10353271"/>
                </a:moveTo>
                <a:lnTo>
                  <a:pt x="10277974" y="10353271"/>
                </a:lnTo>
                <a:lnTo>
                  <a:pt x="10277974" y="0"/>
                </a:lnTo>
                <a:lnTo>
                  <a:pt x="0" y="0"/>
                </a:lnTo>
                <a:lnTo>
                  <a:pt x="0" y="10353271"/>
                </a:lnTo>
                <a:close/>
              </a:path>
            </a:pathLst>
          </a:custGeom>
          <a:blipFill>
            <a:blip r:embed="rId3">
              <a:alphaModFix amt="2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105617" y="1917794"/>
            <a:ext cx="6496913" cy="332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CDCFDB"/>
                </a:solidFill>
                <a:latin typeface="Open Sans"/>
                <a:ea typeface="Open Sans"/>
                <a:cs typeface="Open Sans"/>
                <a:sym typeface="Open Sans"/>
              </a:rPr>
              <a:t>Acesso </a:t>
            </a:r>
            <a:r>
              <a:rPr lang="en-US" sz="2400">
                <a:solidFill>
                  <a:srgbClr val="CDCFDB"/>
                </a:solidFill>
                <a:latin typeface="Open Sans"/>
                <a:ea typeface="Open Sans"/>
                <a:cs typeface="Open Sans"/>
                <a:sym typeface="Open Sans"/>
              </a:rPr>
              <a:t>e Cadastro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  <a:p>
            <a:pPr algn="ctr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100F0D"/>
                </a:solidFill>
                <a:latin typeface="Open Sans"/>
                <a:ea typeface="Open Sans"/>
                <a:cs typeface="Open Sans"/>
                <a:sym typeface="Open Sans"/>
              </a:rPr>
              <a:t>Login com e-mail, nome de usuário e senha</a:t>
            </a:r>
          </a:p>
          <a:p>
            <a:pPr algn="ctr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100F0D"/>
                </a:solidFill>
                <a:latin typeface="Open Sans"/>
                <a:ea typeface="Open Sans"/>
                <a:cs typeface="Open Sans"/>
                <a:sym typeface="Open Sans"/>
              </a:rPr>
              <a:t>Opção "Lembrar login"</a:t>
            </a:r>
          </a:p>
          <a:p>
            <a:pPr algn="ctr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100F0D"/>
                </a:solidFill>
                <a:latin typeface="Open Sans"/>
                <a:ea typeface="Open Sans"/>
                <a:cs typeface="Open Sans"/>
                <a:sym typeface="Open Sans"/>
              </a:rPr>
              <a:t>Cadastro de usuários, profissionais e administradores 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95188" y="1381688"/>
            <a:ext cx="7941387" cy="4722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9"/>
              </a:lnSpc>
            </a:pPr>
          </a:p>
          <a:p>
            <a:pPr algn="ctr">
              <a:lnSpc>
                <a:spcPts val="3459"/>
              </a:lnSpc>
            </a:pPr>
          </a:p>
          <a:p>
            <a:pPr algn="ctr">
              <a:lnSpc>
                <a:spcPts val="3459"/>
              </a:lnSpc>
            </a:pPr>
          </a:p>
          <a:p>
            <a:pPr algn="ctr" marL="533571" indent="-266786" lvl="1">
              <a:lnSpc>
                <a:spcPts val="3459"/>
              </a:lnSpc>
              <a:buFont typeface="Arial"/>
              <a:buChar char="•"/>
            </a:pPr>
            <a:r>
              <a:rPr lang="en-US" sz="247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Envio de denúncias com upload de imagens, vídeos e áudios</a:t>
            </a:r>
          </a:p>
          <a:p>
            <a:pPr algn="ctr" marL="533571" indent="-266786" lvl="1">
              <a:lnSpc>
                <a:spcPts val="3459"/>
              </a:lnSpc>
              <a:spcBef>
                <a:spcPct val="0"/>
              </a:spcBef>
              <a:buFont typeface="Arial"/>
              <a:buChar char="•"/>
            </a:pPr>
            <a:r>
              <a:rPr lang="en-US" sz="247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Acompanham</a:t>
            </a:r>
            <a:r>
              <a:rPr lang="en-US" sz="247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ento do status da denúncia</a:t>
            </a:r>
          </a:p>
          <a:p>
            <a:pPr algn="ctr" marL="533571" indent="-266786" lvl="1">
              <a:lnSpc>
                <a:spcPts val="34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7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Relatórios:</a:t>
            </a:r>
          </a:p>
          <a:p>
            <a:pPr algn="ctr" marL="1067143" indent="-355714" lvl="2">
              <a:lnSpc>
                <a:spcPts val="3459"/>
              </a:lnSpc>
              <a:spcBef>
                <a:spcPct val="0"/>
              </a:spcBef>
              <a:buFont typeface="Arial"/>
              <a:buChar char="⚬"/>
            </a:pPr>
            <a:r>
              <a:rPr lang="en-US" sz="247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Denúncias feitas</a:t>
            </a:r>
          </a:p>
          <a:p>
            <a:pPr algn="ctr" marL="1067143" indent="-355714" lvl="2">
              <a:lnSpc>
                <a:spcPts val="3459"/>
              </a:lnSpc>
              <a:spcBef>
                <a:spcPct val="0"/>
              </a:spcBef>
              <a:buFont typeface="Arial"/>
              <a:buChar char="⚬"/>
            </a:pPr>
            <a:r>
              <a:rPr lang="en-US" sz="247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Não atendidas </a:t>
            </a:r>
          </a:p>
          <a:p>
            <a:pPr algn="ctr" marL="1067143" indent="-355714" lvl="2">
              <a:lnSpc>
                <a:spcPts val="3459"/>
              </a:lnSpc>
              <a:spcBef>
                <a:spcPct val="0"/>
              </a:spcBef>
              <a:buFont typeface="Arial"/>
              <a:buChar char="⚬"/>
            </a:pPr>
            <a:r>
              <a:rPr lang="en-US" sz="247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Profissionais que mais atenderam </a:t>
            </a:r>
          </a:p>
          <a:p>
            <a:pPr algn="ctr">
              <a:lnSpc>
                <a:spcPts val="345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998131" y="6499860"/>
            <a:ext cx="6938037" cy="332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Chat com profissionais esp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ecializados</a:t>
            </a:r>
          </a:p>
          <a:p>
            <a:pPr algn="ctr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Lista de pessoas confiáveis </a:t>
            </a:r>
          </a:p>
          <a:p>
            <a:pPr algn="ctr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Questionário de autoavaliação</a:t>
            </a:r>
          </a:p>
          <a:p>
            <a:pPr algn="ctr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Posts informativos sobre tipos de violência e como denunciar </a:t>
            </a:r>
          </a:p>
          <a:p>
            <a:pPr algn="ctr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Perguntas frequentes </a:t>
            </a:r>
          </a:p>
          <a:p>
            <a:pPr algn="ctr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Mapa de postos policiais  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1542228" y="7128510"/>
            <a:ext cx="6108391" cy="207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Modo noturno e aumento de fonte </a:t>
            </a:r>
          </a:p>
          <a:p>
            <a:pPr algn="ctr">
              <a:lnSpc>
                <a:spcPts val="3359"/>
              </a:lnSpc>
            </a:pPr>
          </a:p>
          <a:p>
            <a:pPr algn="ctr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Disfarce da página para segurança da vítima 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13352441" y="1893102"/>
            <a:ext cx="4136452" cy="686341"/>
            <a:chOff x="0" y="0"/>
            <a:chExt cx="1466250" cy="24328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6250" cy="243287"/>
            </a:xfrm>
            <a:custGeom>
              <a:avLst/>
              <a:gdLst/>
              <a:ahLst/>
              <a:cxnLst/>
              <a:rect r="r" b="b" t="t" l="l"/>
              <a:pathLst>
                <a:path h="243287" w="1466250">
                  <a:moveTo>
                    <a:pt x="0" y="0"/>
                  </a:moveTo>
                  <a:lnTo>
                    <a:pt x="1466250" y="0"/>
                  </a:lnTo>
                  <a:lnTo>
                    <a:pt x="1466250" y="243287"/>
                  </a:lnTo>
                  <a:lnTo>
                    <a:pt x="0" y="243287"/>
                  </a:lnTo>
                  <a:close/>
                </a:path>
              </a:pathLst>
            </a:custGeom>
            <a:solidFill>
              <a:srgbClr val="163F7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466250" cy="300437"/>
            </a:xfrm>
            <a:prstGeom prst="rect">
              <a:avLst/>
            </a:prstGeom>
          </p:spPr>
          <p:txBody>
            <a:bodyPr anchor="ctr" rtlCol="false" tIns="37745" lIns="37745" bIns="37745" rIns="37745"/>
            <a:lstStyle/>
            <a:p>
              <a:pPr algn="ctr">
                <a:lnSpc>
                  <a:spcPts val="448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700184" y="5284256"/>
            <a:ext cx="3307777" cy="669344"/>
            <a:chOff x="0" y="0"/>
            <a:chExt cx="1172509" cy="23726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72509" cy="237263"/>
            </a:xfrm>
            <a:custGeom>
              <a:avLst/>
              <a:gdLst/>
              <a:ahLst/>
              <a:cxnLst/>
              <a:rect r="r" b="b" t="t" l="l"/>
              <a:pathLst>
                <a:path h="237263" w="1172509">
                  <a:moveTo>
                    <a:pt x="0" y="0"/>
                  </a:moveTo>
                  <a:lnTo>
                    <a:pt x="1172509" y="0"/>
                  </a:lnTo>
                  <a:lnTo>
                    <a:pt x="1172509" y="237263"/>
                  </a:lnTo>
                  <a:lnTo>
                    <a:pt x="0" y="237263"/>
                  </a:lnTo>
                  <a:close/>
                </a:path>
              </a:pathLst>
            </a:custGeom>
            <a:solidFill>
              <a:srgbClr val="163F7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172509" cy="294413"/>
            </a:xfrm>
            <a:prstGeom prst="rect">
              <a:avLst/>
            </a:prstGeom>
          </p:spPr>
          <p:txBody>
            <a:bodyPr anchor="ctr" rtlCol="false" tIns="37745" lIns="37745" bIns="37745" rIns="37745"/>
            <a:lstStyle/>
            <a:p>
              <a:pPr algn="ctr">
                <a:lnSpc>
                  <a:spcPts val="448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577852" y="6152065"/>
            <a:ext cx="3911041" cy="686341"/>
            <a:chOff x="0" y="0"/>
            <a:chExt cx="1386348" cy="24328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86348" cy="243287"/>
            </a:xfrm>
            <a:custGeom>
              <a:avLst/>
              <a:gdLst/>
              <a:ahLst/>
              <a:cxnLst/>
              <a:rect r="r" b="b" t="t" l="l"/>
              <a:pathLst>
                <a:path h="243287" w="1386348">
                  <a:moveTo>
                    <a:pt x="0" y="0"/>
                  </a:moveTo>
                  <a:lnTo>
                    <a:pt x="1386348" y="0"/>
                  </a:lnTo>
                  <a:lnTo>
                    <a:pt x="1386348" y="243287"/>
                  </a:lnTo>
                  <a:lnTo>
                    <a:pt x="0" y="243287"/>
                  </a:lnTo>
                  <a:close/>
                </a:path>
              </a:pathLst>
            </a:custGeom>
            <a:solidFill>
              <a:srgbClr val="163F7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386348" cy="300437"/>
            </a:xfrm>
            <a:prstGeom prst="rect">
              <a:avLst/>
            </a:prstGeom>
          </p:spPr>
          <p:txBody>
            <a:bodyPr anchor="ctr" rtlCol="false" tIns="37745" lIns="37745" bIns="37745" rIns="37745"/>
            <a:lstStyle/>
            <a:p>
              <a:pPr algn="ctr">
                <a:lnSpc>
                  <a:spcPts val="448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5632165" y="5401759"/>
            <a:ext cx="3443816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Apoio às Vítimas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924928" y="6278066"/>
            <a:ext cx="2993418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Acessibilidade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83975" y="1912152"/>
            <a:ext cx="367532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Denúncia e Provas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732916" y="2793730"/>
            <a:ext cx="9876916" cy="4699540"/>
          </a:xfrm>
          <a:custGeom>
            <a:avLst/>
            <a:gdLst/>
            <a:ahLst/>
            <a:cxnLst/>
            <a:rect r="r" b="b" t="t" l="l"/>
            <a:pathLst>
              <a:path h="4699540" w="9876916">
                <a:moveTo>
                  <a:pt x="0" y="0"/>
                </a:moveTo>
                <a:lnTo>
                  <a:pt x="9876916" y="0"/>
                </a:lnTo>
                <a:lnTo>
                  <a:pt x="9876916" y="4699540"/>
                </a:lnTo>
                <a:lnTo>
                  <a:pt x="0" y="46995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1699" t="-68385" r="-20267" b="-7240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15541" y="3776698"/>
            <a:ext cx="1828459" cy="2733604"/>
          </a:xfrm>
          <a:custGeom>
            <a:avLst/>
            <a:gdLst/>
            <a:ahLst/>
            <a:cxnLst/>
            <a:rect r="r" b="b" t="t" l="l"/>
            <a:pathLst>
              <a:path h="2733604" w="1828459">
                <a:moveTo>
                  <a:pt x="0" y="0"/>
                </a:moveTo>
                <a:lnTo>
                  <a:pt x="1828459" y="0"/>
                </a:lnTo>
                <a:lnTo>
                  <a:pt x="1828459" y="2733604"/>
                </a:lnTo>
                <a:lnTo>
                  <a:pt x="0" y="27336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98822" y="1789410"/>
            <a:ext cx="6240494" cy="6708179"/>
          </a:xfrm>
          <a:custGeom>
            <a:avLst/>
            <a:gdLst/>
            <a:ahLst/>
            <a:cxnLst/>
            <a:rect r="r" b="b" t="t" l="l"/>
            <a:pathLst>
              <a:path h="6708179" w="6240494">
                <a:moveTo>
                  <a:pt x="0" y="0"/>
                </a:moveTo>
                <a:lnTo>
                  <a:pt x="6240494" y="0"/>
                </a:lnTo>
                <a:lnTo>
                  <a:pt x="6240494" y="6708180"/>
                </a:lnTo>
                <a:lnTo>
                  <a:pt x="0" y="67081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30" t="0" r="-12239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666045" y="1405681"/>
            <a:ext cx="7320588" cy="200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0"/>
              </a:lnSpc>
            </a:pPr>
            <a:r>
              <a:rPr lang="en-US" b="true" sz="6500" spc="-422">
                <a:solidFill>
                  <a:srgbClr val="006DAC"/>
                </a:solidFill>
                <a:latin typeface="Charlevoix Heavy"/>
                <a:ea typeface="Charlevoix Heavy"/>
                <a:cs typeface="Charlevoix Heavy"/>
                <a:sym typeface="Charlevoix Heavy"/>
              </a:rPr>
              <a:t>ARQUITETURA DA SOLUÇÃO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11177" y="4093639"/>
            <a:ext cx="8430323" cy="5164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012" indent="-399006" lvl="1">
              <a:lnSpc>
                <a:spcPts val="5174"/>
              </a:lnSpc>
              <a:buFont typeface="Arial"/>
              <a:buChar char="•"/>
            </a:pPr>
            <a:r>
              <a:rPr lang="en-US" b="true" sz="3696">
                <a:solidFill>
                  <a:srgbClr val="006DAC"/>
                </a:solidFill>
                <a:latin typeface="Charlevoix Medium"/>
                <a:ea typeface="Charlevoix Medium"/>
                <a:cs typeface="Charlevoix Medium"/>
                <a:sym typeface="Charlevoix Medium"/>
              </a:rPr>
              <a:t>Frontend </a:t>
            </a:r>
          </a:p>
          <a:p>
            <a:pPr algn="l" marL="798012" indent="-399006" lvl="1">
              <a:lnSpc>
                <a:spcPts val="5174"/>
              </a:lnSpc>
              <a:buFont typeface="Arial"/>
              <a:buChar char="•"/>
            </a:pPr>
            <a:r>
              <a:rPr lang="en-US" b="true" sz="3696">
                <a:solidFill>
                  <a:srgbClr val="006DAC"/>
                </a:solidFill>
                <a:latin typeface="Charlevoix Medium"/>
                <a:ea typeface="Charlevoix Medium"/>
                <a:cs typeface="Charlevoix Medium"/>
                <a:sym typeface="Charlevoix Medium"/>
              </a:rPr>
              <a:t>Armazenamento (localStorage)</a:t>
            </a:r>
          </a:p>
          <a:p>
            <a:pPr algn="l" marL="798012" indent="-399006" lvl="1">
              <a:lnSpc>
                <a:spcPts val="5174"/>
              </a:lnSpc>
              <a:buFont typeface="Arial"/>
              <a:buChar char="•"/>
            </a:pPr>
            <a:r>
              <a:rPr lang="en-US" b="true" sz="3696">
                <a:solidFill>
                  <a:srgbClr val="006DAC"/>
                </a:solidFill>
                <a:latin typeface="Charlevoix Medium"/>
                <a:ea typeface="Charlevoix Medium"/>
                <a:cs typeface="Charlevoix Medium"/>
                <a:sym typeface="Charlevoix Medium"/>
              </a:rPr>
              <a:t>APIs utilizadas (https://unpkg.com/leaflet@1.9.2/dist/leaflet.js)</a:t>
            </a:r>
          </a:p>
          <a:p>
            <a:pPr algn="l" marL="798012" indent="-399006" lvl="1">
              <a:lnSpc>
                <a:spcPts val="5174"/>
              </a:lnSpc>
              <a:buFont typeface="Arial"/>
              <a:buChar char="•"/>
            </a:pPr>
            <a:r>
              <a:rPr lang="en-US" b="true" sz="3696">
                <a:solidFill>
                  <a:srgbClr val="006DAC"/>
                </a:solidFill>
                <a:latin typeface="Charlevoix Medium"/>
                <a:ea typeface="Charlevoix Medium"/>
                <a:cs typeface="Charlevoix Medium"/>
                <a:sym typeface="Charlevoix Medium"/>
              </a:rPr>
              <a:t>Ferramentas auxiliares (Bootstrap)</a:t>
            </a:r>
          </a:p>
          <a:p>
            <a:pPr algn="l" marL="0" indent="0" lvl="0">
              <a:lnSpc>
                <a:spcPts val="517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DAGqu-4h__4</dc:identifier>
  <dcterms:modified xsi:type="dcterms:W3CDTF">2011-08-01T06:04:30Z</dcterms:modified>
  <cp:revision>1</cp:revision>
  <dc:title>Escuta amiga</dc:title>
</cp:coreProperties>
</file>